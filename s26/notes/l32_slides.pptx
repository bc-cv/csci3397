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CCCC"/>
                </a:solidFill>
                <a:latin typeface="Calibri"/>
              </a:defRPr>
            </a:pPr>
            <a:r>
              <a:t>Lecture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LLM APIs &amp; the Agency Spectrum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CCCC"/>
                </a:solidFill>
                <a:latin typeface="Calibri"/>
              </a:defRPr>
            </a:pPr>
            <a:r>
              <a:t>Theme 4: Agentic Systems — Building a Mini Claude Code (1/5)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CCCC"/>
                </a:solidFill>
                <a:latin typeface="Calibri"/>
              </a:defRPr>
            </a:pPr>
            <a:r>
              <a:t>CSCI 3397 / PSYC 3317: Biomedical Image Analysis  |  Spring 2026  |  Donglai Wei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00000"/>
                </a:solidFill>
                <a:latin typeface="Calibri"/>
              </a:defRPr>
            </a:pPr>
            <a:r>
              <a:t>Housekeeping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Recap: Lec. 30-31 — Multimodal foundation models (CLIP, LLaVA)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Today: From using FMs to orchestrating them — giving LLMs agency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Theme 4 plan: 5 lectures → build a mini Claude Code step-by-step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Reference implementation: nano-claude-code (~5K lines Python)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Action: ps4 out (agentic systems)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Reading: smolagents intro (HuggingFace); Anthropic API quickstart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8000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33333"/>
                </a:solidFill>
                <a:latin typeface="Calibri"/>
              </a:defRPr>
            </a:pPr>
            <a:r>
              <a:t>The Agency Spectrum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00000"/>
                </a:solidFill>
                <a:latin typeface="Calibri"/>
              </a:defRPr>
            </a:pPr>
            <a:r>
              <a:t>Agency Is a Spectrum, Not Binary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280160"/>
            <a:ext cx="9144000" cy="37669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Source: adapted from HuggingFace smolagents conceptual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00000"/>
                </a:solidFill>
                <a:latin typeface="Calibri"/>
              </a:defRPr>
            </a:pPr>
            <a:r>
              <a:t>The Multi-Step Agent Pattern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memory = [user_task]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while llm_should_continue(memory):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action = llm_get_next_action(memory)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observations = execute_action(action)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memory += [action, observations]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This is the core of what we're building → nano-claude-code's agent.py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00000"/>
                </a:solidFill>
                <a:latin typeface="Calibri"/>
              </a:defRPr>
            </a:pPr>
            <a:r>
              <a:t>When to Use Agents vs. Simpler Approaches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✓  Workflow is predictable → hardcode it (100% reliable, no LLM errors)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✗  User requests are unpredictable, require flexible tool combinations → agent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Example: "Is it possible to reschedule my MRI to Wednesday and still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get results before my Thursday appointment?"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→ No fixed workflow can handle this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Biomedical motivation: clinical workflows involve many variable steps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(retrieve prior scans, compare, measure, report)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800000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33333"/>
                </a:solidFill>
                <a:latin typeface="Calibri"/>
              </a:defRPr>
            </a:pPr>
            <a:r>
              <a:t>LLM API Basics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00000"/>
                </a:solidFill>
                <a:latin typeface="Calibri"/>
              </a:defRPr>
            </a:pPr>
            <a:r>
              <a:t>The Messages Format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280160"/>
            <a:ext cx="9144000" cy="49904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Universal across Anthropic, OpenAI, Google — role-tagged message list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00000"/>
                </a:solidFill>
                <a:latin typeface="Calibri"/>
              </a:defRPr>
            </a:pPr>
            <a:r>
              <a:t>API Call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280160"/>
            <a:ext cx="9144000" cy="32733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00000"/>
                </a:solidFill>
                <a:latin typeface="Calibri"/>
              </a:defRPr>
            </a:pPr>
            <a:r>
              <a:t>Making an API Call (Anthropic Python SDK)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0972800" cy="4572000"/>
          </a:xfrm>
          <a:prstGeom prst="rect">
            <a:avLst/>
          </a:prstGeom>
          <a:solidFill>
            <a:srgbClr val="F8F8F8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ourier New"/>
              </a:defRPr>
            </a:pPr>
            <a:r>
              <a:t>import anthropic</a:t>
            </a:r>
            <a:br/>
            <a:r>
              <a:t>client = anthropic.Anthropic()  # reads ANTHROPIC_API_KEY from env</a:t>
            </a:r>
            <a:br/>
            <a:br/>
            <a:r>
              <a:t>response = client.messages.create(</a:t>
            </a:r>
            <a:br/>
            <a:r>
              <a:t>    model="claude-sonnet-4-6-20250514",</a:t>
            </a:r>
            <a:br/>
            <a:r>
              <a:t>    max_tokens=1024,</a:t>
            </a:r>
            <a:br/>
            <a:r>
              <a:t>    system="You are a biomedical image analysis assistant.",</a:t>
            </a:r>
            <a:br/>
            <a:r>
              <a:t>    messages=[{</a:t>
            </a:r>
            <a:br/>
            <a:r>
              <a:t>        "role": "user",</a:t>
            </a:r>
            <a:br/>
            <a:r>
              <a:t>        "content": "What structures are visible in a brain MRI T1?"</a:t>
            </a:r>
            <a:br/>
            <a:r>
              <a:t>    }]</a:t>
            </a:r>
            <a:br/>
            <a:r>
              <a:t>)</a:t>
            </a:r>
            <a:br/>
            <a:r>
              <a:t>print(response.content[0].text)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43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nano-claude-code connection: this is providers.py — the API abstraction layer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00000"/>
                </a:solidFill>
                <a:latin typeface="Calibri"/>
              </a:defRPr>
            </a:pPr>
            <a:r>
              <a:t>Streaming — Tokens Arrive Incrementally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0972800" cy="4572000"/>
          </a:xfrm>
          <a:prstGeom prst="rect">
            <a:avLst/>
          </a:prstGeom>
          <a:solidFill>
            <a:srgbClr val="F8F8F8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ourier New"/>
              </a:defRPr>
            </a:pPr>
            <a:r>
              <a:t>with client.messages.stream(</a:t>
            </a:r>
            <a:br/>
            <a:r>
              <a:t>    model="claude-sonnet-4-6-20250514",</a:t>
            </a:r>
            <a:br/>
            <a:r>
              <a:t>    max_tokens=1024,</a:t>
            </a:r>
            <a:br/>
            <a:r>
              <a:t>    messages=[{"role": "user", "content": "Describe this slide..."}]</a:t>
            </a:r>
            <a:br/>
            <a:r>
              <a:t>) as stream:</a:t>
            </a:r>
            <a:br/>
            <a:r>
              <a:t>    for text in stream.text_stream:</a:t>
            </a:r>
            <a:br/>
            <a:r>
              <a:t>        print(text, end="", flush=True)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43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Important for interactive UX — user sees output as it's generated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00000"/>
                </a:solidFill>
                <a:latin typeface="Calibri"/>
              </a:defRPr>
            </a:pPr>
            <a:r>
              <a:t>Key Parameters: Context Windows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280160"/>
            <a:ext cx="9144000" cy="31147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Tokens ≈ len(text) / 3.5  |  Cost = input_tokens + output_tokens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800000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33333"/>
                </a:solidFill>
                <a:latin typeface="Calibri"/>
              </a:defRPr>
            </a:pPr>
            <a:r>
              <a:t>Structured Outputs &amp; Prompt Engineering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00000"/>
                </a:solidFill>
                <a:latin typeface="Calibri"/>
              </a:defRPr>
            </a:pPr>
            <a:r>
              <a:t>From Unstructured Reports to Structured JSON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280160"/>
            <a:ext cx="9144000" cy="411270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00000"/>
                </a:solidFill>
                <a:latin typeface="Calibri"/>
              </a:defRPr>
            </a:pPr>
            <a:r>
              <a:t>Prompt Engineering for Medical Domain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1. Be specific: "Extract all anatomical structures" &gt; "Analyze this report"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2. Provide examples (few-shot): show 1-2 input/output pairs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3. Set constraints: "Output only JSON. No explanations."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4. Domain grounding: include medical context in system prompt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5. Chain-of-thought: "First identify findings, then classify severity, then format"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00000"/>
                </a:solidFill>
                <a:latin typeface="Calibri"/>
              </a:defRPr>
            </a:pPr>
            <a:r>
              <a:t>Vision API — Sending Images to the LLM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0972800" cy="4572000"/>
          </a:xfrm>
          <a:prstGeom prst="rect">
            <a:avLst/>
          </a:prstGeom>
          <a:solidFill>
            <a:srgbClr val="F8F8F8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ourier New"/>
              </a:defRPr>
            </a:pPr>
            <a:r>
              <a:t>response = client.messages.create(</a:t>
            </a:r>
            <a:br/>
            <a:r>
              <a:t>    model="claude-sonnet-4-6-20250514",</a:t>
            </a:r>
            <a:br/>
            <a:r>
              <a:t>    messages=[{</a:t>
            </a:r>
            <a:br/>
            <a:r>
              <a:t>        "role": "user",</a:t>
            </a:r>
            <a:br/>
            <a:r>
              <a:t>        "content": [</a:t>
            </a:r>
            <a:br/>
            <a:r>
              <a:t>            {"type": "image",</a:t>
            </a:r>
            <a:br/>
            <a:r>
              <a:t>             "source": {"type": "base64",</a:t>
            </a:r>
            <a:br/>
            <a:r>
              <a:t>                        "media_type": "image/png",</a:t>
            </a:r>
            <a:br/>
            <a:r>
              <a:t>                        "data": img_b64}},</a:t>
            </a:r>
            <a:br/>
            <a:r>
              <a:t>            {"type": "text",</a:t>
            </a:r>
            <a:br/>
            <a:r>
              <a:t>             "text": "Describe the histological features."}</a:t>
            </a:r>
            <a:br/>
            <a:r>
              <a:t>        ]</a:t>
            </a:r>
            <a:br/>
            <a:r>
              <a:t>    }]</a:t>
            </a:r>
            <a:br/>
            <a: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43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Direct connection to Lec. 30-31 (multimodal FMs)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00000"/>
                </a:solidFill>
                <a:latin typeface="Calibri"/>
              </a:defRPr>
            </a:pPr>
            <a:r>
              <a:t>Wrap-Up &amp; Looking Ahead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Key takeaway: LLM APIs are the foundation — messages in, text/data out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The agency spectrum shows how to give LLMs increasing control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What we built today: the API layer (providers.py in nano-claude-code)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Next (Lec. 33): Tool Use &amp; the Core Agent Loop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→ We teach the LLM to call functions, turning it into an agent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